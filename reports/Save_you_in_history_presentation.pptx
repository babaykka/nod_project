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64008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153912"/>
            <a:ext cx="12191695" cy="64008"/>
          </a:xfrm>
          <a:prstGeom prst="rect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998464"/>
            <a:ext cx="12191695" cy="64008"/>
          </a:xfrm>
          <a:prstGeom prst="rect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4846320" cy="14173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Save you</a:t>
            </a:r>
            <a:br/>
            <a:r>
              <a:t>in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743200"/>
            <a:ext cx="5120640" cy="6217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700" b="0">
                <a:solidFill>
                  <a:srgbClr val="E3EBF0"/>
                </a:solidFill>
                <a:latin typeface="Arial"/>
              </a:defRPr>
            </a:pPr>
            <a:r>
              <a:t>Персональная историческая открытка</a:t>
            </a:r>
            <a:br/>
            <a:r>
              <a:t>с локальной рекламой и QR-купоном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94760"/>
            <a:ext cx="5486400" cy="42062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250" b="0">
                <a:solidFill>
                  <a:srgbClr val="C4D3DE"/>
                </a:solidFill>
                <a:latin typeface="Arial"/>
              </a:defRPr>
            </a:pPr>
            <a:r>
              <a:t>Исследовательский проект: целевая аудитория, маркетинг, география запуска, юнит-экономика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806440"/>
            <a:ext cx="4206240" cy="22860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0">
                <a:solidFill>
                  <a:srgbClr val="C4D3DE"/>
                </a:solidFill>
                <a:latin typeface="Arial"/>
              </a:defRPr>
            </a:pPr>
            <a:r>
              <a:t>НОД / spring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822960"/>
            <a:ext cx="4069080" cy="5120640"/>
          </a:xfrm>
          <a:prstGeom prst="roundRect">
            <a:avLst/>
          </a:prstGeom>
          <a:solidFill>
            <a:srgbClr val="FAF4E2"/>
          </a:solidFill>
          <a:ln w="15240">
            <a:solidFill>
              <a:srgbClr val="B19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1024128"/>
            <a:ext cx="3611880" cy="34747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700" b="1">
                <a:solidFill>
                  <a:srgbClr val="1E3040"/>
                </a:solidFill>
                <a:latin typeface="Arial"/>
              </a:defRPr>
            </a:pPr>
            <a:r>
              <a:t>ПЕТЕРБУРГСКИЙ ВЕСТНИК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389888"/>
            <a:ext cx="3611880" cy="20116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780" b="0">
                <a:solidFill>
                  <a:srgbClr val="586069"/>
                </a:solidFill>
                <a:latin typeface="Arial"/>
              </a:defRPr>
            </a:pPr>
            <a:r>
              <a:t>специальный выпуск · историческая открытка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719072"/>
            <a:ext cx="3429000" cy="3246120"/>
          </a:xfrm>
          <a:prstGeom prst="rect">
            <a:avLst/>
          </a:prstGeom>
          <a:solidFill>
            <a:srgbClr val="D8D3C2"/>
          </a:solidFill>
          <a:ln>
            <a:solidFill>
              <a:srgbClr val="B19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95160" y="2240280"/>
            <a:ext cx="3154680" cy="64008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600" b="1">
                <a:solidFill>
                  <a:srgbClr val="1E3040"/>
                </a:solidFill>
                <a:latin typeface="Arial"/>
              </a:defRPr>
            </a:pPr>
            <a:r>
              <a:t>ФОТО ТУРИСТА</a:t>
            </a:r>
            <a:br/>
            <a:r>
              <a:t>в стиле старой газеты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5230368"/>
            <a:ext cx="34290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B19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13448" y="5349240"/>
            <a:ext cx="2990088" cy="18288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ПАРТНЕР: кофе рядом · QR-купон −10%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57232" y="5321808"/>
            <a:ext cx="274320" cy="274320"/>
          </a:xfrm>
          <a:prstGeom prst="rect">
            <a:avLst/>
          </a:prstGeom>
          <a:solidFill>
            <a:srgbClr val="1F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СУТЬ ПРОДУКТА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Бизнес-гипотеза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41832"/>
            <a:ext cx="6583680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2000" b="1">
                <a:solidFill>
                  <a:srgbClr val="1E3040"/>
                </a:solidFill>
                <a:latin typeface="Arial"/>
              </a:defRPr>
            </a:pP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продаем</a:t>
            </a:r>
            <a:r>
              <a:rPr dirty="0"/>
              <a:t> </a:t>
            </a:r>
            <a:r>
              <a:rPr dirty="0" err="1"/>
              <a:t>туристу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фильтр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физический</a:t>
            </a:r>
            <a:r>
              <a:rPr dirty="0"/>
              <a:t> </a:t>
            </a:r>
            <a:r>
              <a:rPr dirty="0" err="1"/>
              <a:t>сувенир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историей</a:t>
            </a:r>
            <a:r>
              <a:rPr dirty="0"/>
              <a:t> </a:t>
            </a:r>
            <a:r>
              <a:rPr dirty="0" err="1"/>
              <a:t>города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965960"/>
            <a:ext cx="73152" cy="1325880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2130552"/>
            <a:ext cx="30358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300" b="1">
                <a:solidFill>
                  <a:srgbClr val="1E3040"/>
                </a:solidFill>
                <a:latin typeface="Arial"/>
              </a:defRPr>
            </a:pPr>
            <a:r>
              <a:rPr dirty="0"/>
              <a:t>B2C: </a:t>
            </a:r>
            <a:r>
              <a:rPr dirty="0" err="1"/>
              <a:t>турист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95528" y="2532888"/>
            <a:ext cx="3035808" cy="66751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0">
                <a:solidFill>
                  <a:srgbClr val="1F1F23"/>
                </a:solidFill>
                <a:latin typeface="Arial"/>
              </a:defRPr>
            </a:pPr>
            <a:r>
              <a:t>Платит за персональную открытку, сделанную на месте: фото + исторический шаблон + печать + цифровая копия.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96596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1965960"/>
            <a:ext cx="73152" cy="1325880"/>
          </a:xfrm>
          <a:prstGeom prst="rect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53128" y="2130552"/>
            <a:ext cx="30358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300" b="1">
                <a:solidFill>
                  <a:srgbClr val="1E3040"/>
                </a:solidFill>
                <a:latin typeface="Arial"/>
              </a:defRPr>
            </a:pPr>
            <a:r>
              <a:t>B2B: локальный партнер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532888"/>
            <a:ext cx="3035808" cy="66751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0">
                <a:solidFill>
                  <a:srgbClr val="1F1F23"/>
                </a:solidFill>
                <a:latin typeface="Arial"/>
              </a:defRPr>
            </a:pPr>
            <a:r>
              <a:t>Покупает рекламное место на обороте/нижнем блоке открытки: QR, купон, промокод, отчетность.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196596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09560" y="1965960"/>
            <a:ext cx="73152" cy="1325880"/>
          </a:xfrm>
          <a:prstGeom prst="rect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10728" y="2130552"/>
            <a:ext cx="30358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300" b="1">
                <a:solidFill>
                  <a:srgbClr val="1E3040"/>
                </a:solidFill>
                <a:latin typeface="Arial"/>
              </a:defRPr>
            </a:pPr>
            <a:r>
              <a:t>Франшиза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2532888"/>
            <a:ext cx="3035808" cy="66751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0">
                <a:solidFill>
                  <a:srgbClr val="1F1F23"/>
                </a:solidFill>
                <a:latin typeface="Arial"/>
              </a:defRPr>
            </a:pPr>
            <a:r>
              <a:t>После пилота модель масштабируется в другие исторические города и туристические локации.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977639"/>
            <a:ext cx="1783080" cy="868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9848" y="4169663"/>
            <a:ext cx="457200" cy="457200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" y="4261103"/>
            <a:ext cx="457200" cy="1463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4151376"/>
            <a:ext cx="1033271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Фото у</a:t>
            </a:r>
            <a:br/>
            <a:r>
              <a:t>достопримечательности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43200" y="4416552"/>
            <a:ext cx="320040" cy="0"/>
          </a:xfrm>
          <a:prstGeom prst="line">
            <a:avLst/>
          </a:prstGeom>
          <a:ln w="25400">
            <a:solidFill>
              <a:srgbClr val="DA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063239" y="3977639"/>
            <a:ext cx="1783080" cy="868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172968" y="4169663"/>
            <a:ext cx="457200" cy="457200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72968" y="4261103"/>
            <a:ext cx="457200" cy="1463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1607" y="4151376"/>
            <a:ext cx="1033271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Шаблон</a:t>
            </a:r>
            <a:br/>
            <a:r>
              <a:t>города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46320" y="4416552"/>
            <a:ext cx="320039" cy="0"/>
          </a:xfrm>
          <a:prstGeom prst="line">
            <a:avLst/>
          </a:prstGeom>
          <a:ln w="25400">
            <a:solidFill>
              <a:srgbClr val="DA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166359" y="3977639"/>
            <a:ext cx="1783080" cy="868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276088" y="4169663"/>
            <a:ext cx="457200" cy="457200"/>
          </a:xfrm>
          <a:prstGeom prst="ellipse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76088" y="4261103"/>
            <a:ext cx="457200" cy="1463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727" y="4151376"/>
            <a:ext cx="1033271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Печать</a:t>
            </a:r>
            <a:br/>
            <a:r>
              <a:t>2–3 минуты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49440" y="4416552"/>
            <a:ext cx="320039" cy="0"/>
          </a:xfrm>
          <a:prstGeom prst="line">
            <a:avLst/>
          </a:prstGeom>
          <a:ln w="25400">
            <a:solidFill>
              <a:srgbClr val="DA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269479" y="3977639"/>
            <a:ext cx="1783080" cy="868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379207" y="4169663"/>
            <a:ext cx="457200" cy="457200"/>
          </a:xfrm>
          <a:prstGeom prst="ellipse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79207" y="4261103"/>
            <a:ext cx="457200" cy="1463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7848" y="4151376"/>
            <a:ext cx="1033271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QR-купон</a:t>
            </a:r>
            <a:br/>
            <a:r>
              <a:t>партнера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052559" y="4416552"/>
            <a:ext cx="320040" cy="0"/>
          </a:xfrm>
          <a:prstGeom prst="line">
            <a:avLst/>
          </a:prstGeom>
          <a:ln w="25400">
            <a:solidFill>
              <a:srgbClr val="DA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372600" y="3977639"/>
            <a:ext cx="1783080" cy="868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482328" y="4169663"/>
            <a:ext cx="457200" cy="457200"/>
          </a:xfrm>
          <a:prstGeom prst="ellipse">
            <a:avLst/>
          </a:prstGeom>
          <a:solidFill>
            <a:srgbClr val="1E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82328" y="4261103"/>
            <a:ext cx="457200" cy="1463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30968" y="4151376"/>
            <a:ext cx="1033271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Метрики</a:t>
            </a:r>
            <a:br/>
            <a:r>
              <a:t>для B2B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Рабочая модель проекта: продажа фото туристу + рекламная выручка от локального бизнеса.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КАК ПРОВЕРЯЛАСЬ ГИПОТЕЗА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Методология и источники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0424160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r>
              <a:t>Проект собран как воспроизводимая цепочка анализа: исходные таблицы → обработка → графики → отчет → презентация.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074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73152" cy="777240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993392"/>
            <a:ext cx="472744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1">
                <a:solidFill>
                  <a:srgbClr val="1E3040"/>
                </a:solidFill>
                <a:latin typeface="Arial"/>
              </a:defRPr>
            </a:pPr>
            <a:r>
              <a:t>Администрация Санкт-Петербурга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95728"/>
            <a:ext cx="4727448" cy="11887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19" b="0">
                <a:solidFill>
                  <a:srgbClr val="1F1F23"/>
                </a:solidFill>
                <a:latin typeface="Arial"/>
              </a:defRPr>
            </a:pPr>
            <a:r>
              <a:t>турпоток 2025, вклад туризма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074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73152" cy="777240"/>
          </a:xfrm>
          <a:prstGeom prst="rect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993392"/>
            <a:ext cx="472744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1">
                <a:solidFill>
                  <a:srgbClr val="1E3040"/>
                </a:solidFill>
                <a:latin typeface="Arial"/>
              </a:defRPr>
            </a:pPr>
            <a:r>
              <a:t>Турбарометр / Visit Petersburg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95728"/>
            <a:ext cx="4727448" cy="11887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19" b="0">
                <a:solidFill>
                  <a:srgbClr val="1F1F23"/>
                </a:solidFill>
                <a:latin typeface="Arial"/>
              </a:defRPr>
            </a:pPr>
            <a:r>
              <a:t>цели поездок, NPS, расходы, семейные туристы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80360"/>
            <a:ext cx="5074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2880360"/>
            <a:ext cx="73152" cy="777240"/>
          </a:xfrm>
          <a:prstGeom prst="rect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044952"/>
            <a:ext cx="472744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1">
                <a:solidFill>
                  <a:srgbClr val="1E3040"/>
                </a:solidFill>
                <a:latin typeface="Arial"/>
              </a:defRPr>
            </a:pPr>
            <a:r>
              <a:t>Visit Petersburg: «Места»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447288"/>
            <a:ext cx="4727448" cy="11887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19" b="0">
                <a:solidFill>
                  <a:srgbClr val="1F1F23"/>
                </a:solidFill>
                <a:latin typeface="Arial"/>
              </a:defRPr>
            </a:pPr>
            <a:r>
              <a:t>статический парсинг достопримечательностей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880360"/>
            <a:ext cx="5074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880360"/>
            <a:ext cx="73152" cy="777240"/>
          </a:xfrm>
          <a:prstGeom prst="rect">
            <a:avLst/>
          </a:prstGeom>
          <a:solidFill>
            <a:srgbClr val="1E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3044952"/>
            <a:ext cx="472744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1">
                <a:solidFill>
                  <a:srgbClr val="1E3040"/>
                </a:solidFill>
                <a:latin typeface="Arial"/>
              </a:defRPr>
            </a:pPr>
            <a:r>
              <a:t>2GIS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447288"/>
            <a:ext cx="4727448" cy="11887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19" b="0">
                <a:solidFill>
                  <a:srgbClr val="1F1F23"/>
                </a:solidFill>
                <a:latin typeface="Arial"/>
              </a:defRPr>
            </a:pPr>
            <a:r>
              <a:t>статический парсинг ресторанов, отелей и рубрик еды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931920"/>
            <a:ext cx="5074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3931920"/>
            <a:ext cx="73152" cy="777240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" y="4096511"/>
            <a:ext cx="472744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1">
                <a:solidFill>
                  <a:srgbClr val="1E3040"/>
                </a:solidFill>
                <a:latin typeface="Arial"/>
              </a:defRPr>
            </a:pPr>
            <a:r>
              <a:t>UNESCO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498848"/>
            <a:ext cx="4727448" cy="11887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19" b="0">
                <a:solidFill>
                  <a:srgbClr val="1F1F23"/>
                </a:solidFill>
                <a:latin typeface="Arial"/>
              </a:defRPr>
            </a:pPr>
            <a:r>
              <a:t>историческое позиционирование центра города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074920"/>
            <a:ext cx="106070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5074920"/>
            <a:ext cx="73152" cy="868680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" y="5239512"/>
            <a:ext cx="10259567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200" b="1">
                <a:solidFill>
                  <a:srgbClr val="1E3040"/>
                </a:solidFill>
                <a:latin typeface="Arial"/>
              </a:defRPr>
            </a:pPr>
            <a:r>
              <a:t>Техническая часть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5641848"/>
            <a:ext cx="10259567" cy="329184"/>
          </a:xfrm>
          <a:prstGeom prst="rect">
            <a:avLst/>
          </a:prstGeom>
          <a:noFill/>
        </p:spPr>
        <p:txBody>
          <a:bodyPr wrap="square" lIns="0" tIns="0" rIns="0" anchor="t">
            <a:noAutofit/>
          </a:bodyPr>
          <a:lstStyle/>
          <a:p>
            <a:r>
              <a:rPr sz="850">
                <a:solidFill>
                  <a:srgbClr val="1A1A1C"/>
                </a:solidFill>
              </a:rPr>
              <a:t>ООП-коллекторы, requests + BeautifulSoup, pandas, matplotlib, Dash-дашборд; Selenium-модуль оставлен как отдельная заготовка для динамических страниц.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Полный реестр источников: data/raw/source_registry.csv; код: src/save_history/*.py.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РЫНОК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Санкт-Петербург — рациональный первый город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04</a:t>
            </a:r>
          </a:p>
        </p:txBody>
      </p:sp>
      <p:pic>
        <p:nvPicPr>
          <p:cNvPr id="7" name="Picture 6" descr="tourism_con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41328"/>
            <a:ext cx="6903720" cy="35125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325880"/>
            <a:ext cx="201168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36407" y="1435607"/>
            <a:ext cx="1792224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2100" b="1">
                <a:solidFill>
                  <a:srgbClr val="23A6A6"/>
                </a:solidFill>
                <a:latin typeface="Arial"/>
              </a:defRPr>
            </a:pPr>
            <a:r>
              <a:t>12,4 млн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7" y="1856231"/>
            <a:ext cx="1792224" cy="29260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869" b="0">
                <a:solidFill>
                  <a:srgbClr val="586069"/>
                </a:solidFill>
                <a:latin typeface="Arial"/>
              </a:defRPr>
            </a:pPr>
            <a:r>
              <a:t>туристических поездок в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21240" y="1325880"/>
            <a:ext cx="201168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30967" y="1435607"/>
            <a:ext cx="1792224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2100" b="1">
                <a:solidFill>
                  <a:srgbClr val="F3B33D"/>
                </a:solidFill>
                <a:latin typeface="Arial"/>
              </a:defRPr>
            </a:pPr>
            <a:r>
              <a:t>843,1 млрд 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30967" y="1856231"/>
            <a:ext cx="1792224" cy="29260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869" b="0">
                <a:solidFill>
                  <a:srgbClr val="586069"/>
                </a:solidFill>
                <a:latin typeface="Arial"/>
              </a:defRPr>
            </a:pPr>
            <a:r>
              <a:t>вклад туристов в экономику, 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514600"/>
            <a:ext cx="201168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7" y="2624328"/>
            <a:ext cx="1792224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2100" b="1">
                <a:solidFill>
                  <a:srgbClr val="6F2DBD"/>
                </a:solidFill>
                <a:latin typeface="Arial"/>
              </a:defRPr>
            </a:pPr>
            <a:r>
              <a:t>+7%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7" y="3044952"/>
            <a:ext cx="1792224" cy="29260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869" b="0">
                <a:solidFill>
                  <a:srgbClr val="586069"/>
                </a:solidFill>
                <a:latin typeface="Arial"/>
              </a:defRPr>
            </a:pPr>
            <a:r>
              <a:t>рост к 2024 году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21240" y="2514600"/>
            <a:ext cx="201168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30967" y="2624328"/>
            <a:ext cx="1792224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2100" b="1">
                <a:solidFill>
                  <a:srgbClr val="1E3040"/>
                </a:solidFill>
                <a:latin typeface="Arial"/>
              </a:defRPr>
            </a:pPr>
            <a:r>
              <a:t>+19%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30967" y="3044952"/>
            <a:ext cx="1792224" cy="29260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869" b="0">
                <a:solidFill>
                  <a:srgbClr val="586069"/>
                </a:solidFill>
                <a:latin typeface="Arial"/>
              </a:defRPr>
            </a:pPr>
            <a:r>
              <a:t>рост к 2019 году</a:t>
            </a:r>
          </a:p>
        </p:txBody>
      </p:sp>
      <p:sp>
        <p:nvSpPr>
          <p:cNvPr id="20" name="Oval 19"/>
          <p:cNvSpPr/>
          <p:nvPr/>
        </p:nvSpPr>
        <p:spPr>
          <a:xfrm>
            <a:off x="7818120" y="395020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37576" y="3886200"/>
            <a:ext cx="3392424" cy="41148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Крупный поток дает базу для пилота без раннего масштабирования.</a:t>
            </a:r>
          </a:p>
        </p:txBody>
      </p:sp>
      <p:sp>
        <p:nvSpPr>
          <p:cNvPr id="22" name="Oval 21"/>
          <p:cNvSpPr/>
          <p:nvPr/>
        </p:nvSpPr>
        <p:spPr>
          <a:xfrm>
            <a:off x="7818120" y="436168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37576" y="4297680"/>
            <a:ext cx="3392424" cy="41148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Исторический центр усиливает идею «сохранить себя в истории города».</a:t>
            </a:r>
          </a:p>
        </p:txBody>
      </p:sp>
      <p:sp>
        <p:nvSpPr>
          <p:cNvPr id="24" name="Oval 23"/>
          <p:cNvSpPr/>
          <p:nvPr/>
        </p:nvSpPr>
        <p:spPr>
          <a:xfrm>
            <a:off x="7818120" y="477316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37576" y="4709160"/>
            <a:ext cx="3392424" cy="41148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Высокая туристическая экономика повышает интерес локального B2B к рекламе.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Источники: Администрация Санкт-Петербурга; Турбарометр Санкт-Петербурга, итоги 2024 года.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КОМУ ПРОДАЕТСЯ ФОТО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Целевая аудитория B2C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05</a:t>
            </a:r>
          </a:p>
        </p:txBody>
      </p:sp>
      <p:pic>
        <p:nvPicPr>
          <p:cNvPr id="7" name="Picture 6" descr="trip_purposes_2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65978"/>
            <a:ext cx="6766560" cy="368032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234440"/>
            <a:ext cx="3611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234440"/>
            <a:ext cx="73152" cy="1143000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36408" y="1399032"/>
            <a:ext cx="32644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300" b="1">
                <a:solidFill>
                  <a:srgbClr val="1E3040"/>
                </a:solidFill>
                <a:latin typeface="Arial"/>
              </a:defRPr>
            </a:pPr>
            <a:r>
              <a:t>Культурные туристы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1801368"/>
            <a:ext cx="3264408" cy="4846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0">
                <a:solidFill>
                  <a:srgbClr val="1F1F23"/>
                </a:solidFill>
                <a:latin typeface="Arial"/>
              </a:defRPr>
            </a:pPr>
            <a:r>
              <a:t>51,4% поездок туристов из регионов России — культурно-познавательные цели. Продукт совпадает с мотивом поездки.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606040"/>
            <a:ext cx="3611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2606040"/>
            <a:ext cx="73152" cy="1143000"/>
          </a:xfrm>
          <a:prstGeom prst="rect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6408" y="2770632"/>
            <a:ext cx="32644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300" b="1">
                <a:solidFill>
                  <a:srgbClr val="1E3040"/>
                </a:solidFill>
                <a:latin typeface="Arial"/>
              </a:defRPr>
            </a:pPr>
            <a:r>
              <a:t>Семьи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3172968"/>
            <a:ext cx="3264408" cy="4846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0">
                <a:solidFill>
                  <a:srgbClr val="1F1F23"/>
                </a:solidFill>
                <a:latin typeface="Arial"/>
              </a:defRPr>
            </a:pPr>
            <a:r>
              <a:t>54,3% внутреннего турпотока — семейные туристы; сувенир работает как подарок и память.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3977638"/>
            <a:ext cx="3611880" cy="215798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35240" y="3977639"/>
            <a:ext cx="54864" cy="2157984"/>
          </a:xfrm>
          <a:prstGeom prst="rect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36408" y="4142231"/>
            <a:ext cx="32644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r>
              <a:t>Туристы 18–44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4544568"/>
            <a:ext cx="3264408" cy="4846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r>
              <a:rPr dirty="0"/>
              <a:t>Для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сегмента</a:t>
            </a:r>
            <a:r>
              <a:rPr dirty="0"/>
              <a:t> </a:t>
            </a:r>
            <a:r>
              <a:rPr dirty="0" err="1"/>
              <a:t>важны</a:t>
            </a:r>
            <a:r>
              <a:rPr dirty="0"/>
              <a:t> </a:t>
            </a:r>
            <a:r>
              <a:rPr dirty="0" err="1"/>
              <a:t>визуальность</a:t>
            </a:r>
            <a:r>
              <a:rPr dirty="0"/>
              <a:t>, </a:t>
            </a:r>
            <a:r>
              <a:rPr dirty="0" err="1"/>
              <a:t>быстрый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возможность</a:t>
            </a:r>
            <a:r>
              <a:rPr dirty="0"/>
              <a:t> </a:t>
            </a:r>
            <a:r>
              <a:rPr dirty="0" err="1"/>
              <a:t>сохранить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цифровую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физическую</a:t>
            </a:r>
            <a:r>
              <a:rPr dirty="0"/>
              <a:t> </a:t>
            </a:r>
            <a:r>
              <a:rPr dirty="0" err="1"/>
              <a:t>версию</a:t>
            </a:r>
            <a:r>
              <a:rPr dirty="0"/>
              <a:t> </a:t>
            </a:r>
            <a:r>
              <a:rPr dirty="0" err="1"/>
              <a:t>снимка</a:t>
            </a:r>
            <a:r>
              <a:rPr dirty="0"/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Источник: Туризм Санкт-Петербурга. Итоги 2024 года / Турбарометр.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КТО ПЛАТИТ ЗА РЕКЛАМУ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B2B-база: рестораны, кофейни, отели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06</a:t>
            </a:r>
          </a:p>
        </p:txBody>
      </p:sp>
      <p:pic>
        <p:nvPicPr>
          <p:cNvPr id="7" name="Picture 6" descr="partner_market_2g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2125"/>
            <a:ext cx="6812280" cy="37051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34440"/>
            <a:ext cx="3291840" cy="2743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700" b="1">
                <a:solidFill>
                  <a:srgbClr val="1E3040"/>
                </a:solidFill>
                <a:latin typeface="Arial"/>
              </a:defRPr>
            </a:pPr>
            <a:r>
              <a:t>Что продаем партнеру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1801368"/>
            <a:ext cx="118872" cy="118872"/>
          </a:xfrm>
          <a:prstGeom prst="ellipse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37576" y="1737360"/>
            <a:ext cx="3438144" cy="49149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Рекламный блок на печатной открытке.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292858"/>
            <a:ext cx="118872" cy="118872"/>
          </a:xfrm>
          <a:prstGeom prst="ellipse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37576" y="2228850"/>
            <a:ext cx="3438144" cy="49149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QR-код / промокод с измеримой конверсией.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2784347"/>
            <a:ext cx="118872" cy="118872"/>
          </a:xfrm>
          <a:prstGeom prst="ellipse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37576" y="2720339"/>
            <a:ext cx="3438144" cy="49149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Географически близкий трафик: турист уже рядом.</a:t>
            </a:r>
          </a:p>
        </p:txBody>
      </p:sp>
      <p:sp>
        <p:nvSpPr>
          <p:cNvPr id="15" name="Oval 14"/>
          <p:cNvSpPr/>
          <p:nvPr/>
        </p:nvSpPr>
        <p:spPr>
          <a:xfrm>
            <a:off x="7818120" y="3275837"/>
            <a:ext cx="118872" cy="118872"/>
          </a:xfrm>
          <a:prstGeom prst="ellipse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37576" y="3211829"/>
            <a:ext cx="3438144" cy="49149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Пакет для пилота: 10–15 тыс. ₽ в месяц за партнера.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4251960"/>
            <a:ext cx="3383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0" y="4251960"/>
            <a:ext cx="73152" cy="822960"/>
          </a:xfrm>
          <a:prstGeom prst="rect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73568" y="4416552"/>
            <a:ext cx="30358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200" b="1">
                <a:solidFill>
                  <a:srgbClr val="1E3040"/>
                </a:solidFill>
                <a:latin typeface="Arial"/>
              </a:defRPr>
            </a:pPr>
            <a:r>
              <a:t>Цель пилота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4818888"/>
            <a:ext cx="3035808" cy="438912"/>
          </a:xfrm>
          <a:prstGeom prst="rect">
            <a:avLst/>
          </a:prstGeom>
          <a:noFill/>
        </p:spPr>
        <p:txBody>
          <a:bodyPr wrap="square" lIns="0" tIns="0" rIns="0" anchor="t">
            <a:normAutofit/>
          </a:bodyPr>
          <a:lstStyle/>
          <a:p>
            <a:pPr algn="l">
              <a:defRPr sz="1000" b="0">
                <a:solidFill>
                  <a:srgbClr val="1F1F23"/>
                </a:solidFill>
                <a:latin typeface="Arial"/>
              </a:defRPr>
            </a:pPr>
            <a:r>
              <a:rPr sz="1200"/>
              <a:t>5 платящих партнеров на первую точку и проверка QR-конверсии 8–12%.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Источник: статический парсинг страниц 2GIS по Санкт-Петербургу.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ГДЕ СТАВИТЬ ПЕРВУЮ ТОЧКУ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География запуска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07</a:t>
            </a:r>
          </a:p>
        </p:txBody>
      </p:sp>
      <p:pic>
        <p:nvPicPr>
          <p:cNvPr id="7" name="Picture 6" descr="launch_zone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64700"/>
            <a:ext cx="6903720" cy="32657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234440"/>
            <a:ext cx="3566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0" y="1234440"/>
            <a:ext cx="73152" cy="1097280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73568" y="1399032"/>
            <a:ext cx="321868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400" b="1">
                <a:solidFill>
                  <a:srgbClr val="1E3040"/>
                </a:solidFill>
                <a:latin typeface="Arial"/>
              </a:defRPr>
            </a:pPr>
            <a:r>
              <a:t>Рекомендация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1801368"/>
            <a:ext cx="3218688" cy="43891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200" b="0">
                <a:solidFill>
                  <a:srgbClr val="1F1F23"/>
                </a:solidFill>
                <a:latin typeface="Arial"/>
              </a:defRPr>
            </a:pPr>
            <a:r>
              <a:t>Невский проспект — Казанский собор — Дом книги.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743200"/>
            <a:ext cx="3474720" cy="2743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600" b="1">
                <a:solidFill>
                  <a:srgbClr val="1E3040"/>
                </a:solidFill>
                <a:latin typeface="Arial"/>
              </a:defRPr>
            </a:pPr>
            <a:r>
              <a:t>Почему именно там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3246120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83296" y="3182112"/>
            <a:ext cx="3346704" cy="40005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20" b="0">
                <a:solidFill>
                  <a:srgbClr val="1F1F23"/>
                </a:solidFill>
                <a:latin typeface="Arial"/>
              </a:defRPr>
            </a:pPr>
            <a:r>
              <a:t>максимально понятный туристический маршрут;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3646170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83296" y="3582162"/>
            <a:ext cx="3346704" cy="40005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20" b="0">
                <a:solidFill>
                  <a:srgbClr val="1F1F23"/>
                </a:solidFill>
                <a:latin typeface="Arial"/>
              </a:defRPr>
            </a:pPr>
            <a:r>
              <a:t>высокая плотность ресторанов и кофеен;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4046220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83296" y="3982212"/>
            <a:ext cx="3346704" cy="40005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20" b="0">
                <a:solidFill>
                  <a:srgbClr val="1F1F23"/>
                </a:solidFill>
                <a:latin typeface="Arial"/>
              </a:defRPr>
            </a:pPr>
            <a:r>
              <a:t>проще операционно, чем Дворцовая площадь;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0" y="4446270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83296" y="4382262"/>
            <a:ext cx="3346704" cy="40005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20" b="0">
                <a:solidFill>
                  <a:srgbClr val="1F1F23"/>
                </a:solidFill>
                <a:latin typeface="Arial"/>
              </a:defRPr>
            </a:pPr>
            <a:r>
              <a:t>сильный исторический контекст без потери B2B-доступности.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Скоринг экспертный: трафик, исторический контекст, партнерская плотность, операционность, устойчивость к погоде.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КАК ЭТО РАБОТАЕТ ДЛЯ КЛИЕНТА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Продуктовый сценарий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783080" cy="868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8" y="1426464"/>
            <a:ext cx="457200" cy="457200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517904"/>
            <a:ext cx="457200" cy="1463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408176"/>
            <a:ext cx="1033271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Фото /</a:t>
            </a:r>
            <a:br/>
            <a:r>
              <a:t>загрузка через QR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80" y="1673352"/>
            <a:ext cx="320040" cy="0"/>
          </a:xfrm>
          <a:prstGeom prst="line">
            <a:avLst/>
          </a:prstGeom>
          <a:ln w="25400">
            <a:solidFill>
              <a:srgbClr val="DA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88920" y="1234440"/>
            <a:ext cx="1783080" cy="868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898648" y="1426464"/>
            <a:ext cx="457200" cy="457200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98648" y="1517904"/>
            <a:ext cx="457200" cy="1463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7" y="1408176"/>
            <a:ext cx="1033271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Выбор</a:t>
            </a:r>
            <a:br/>
            <a:r>
              <a:t>шаблона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1673352"/>
            <a:ext cx="320040" cy="0"/>
          </a:xfrm>
          <a:prstGeom prst="line">
            <a:avLst/>
          </a:prstGeom>
          <a:ln w="25400">
            <a:solidFill>
              <a:srgbClr val="DA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92040" y="1234440"/>
            <a:ext cx="1783080" cy="868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01768" y="1426464"/>
            <a:ext cx="457200" cy="457200"/>
          </a:xfrm>
          <a:prstGeom prst="ellipse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1768" y="1517904"/>
            <a:ext cx="457200" cy="1463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0407" y="1408176"/>
            <a:ext cx="1033271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Печать</a:t>
            </a:r>
            <a:br/>
            <a:r>
              <a:t>на месте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75120" y="1673352"/>
            <a:ext cx="320039" cy="0"/>
          </a:xfrm>
          <a:prstGeom prst="line">
            <a:avLst/>
          </a:prstGeom>
          <a:ln w="25400">
            <a:solidFill>
              <a:srgbClr val="DA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995159" y="1234440"/>
            <a:ext cx="1783080" cy="868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104888" y="1426464"/>
            <a:ext cx="457200" cy="457200"/>
          </a:xfrm>
          <a:prstGeom prst="ellipse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04888" y="1517904"/>
            <a:ext cx="457200" cy="1463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3527" y="1408176"/>
            <a:ext cx="1033271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Купон</a:t>
            </a:r>
            <a:br/>
            <a:r>
              <a:t>партнера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78240" y="1673352"/>
            <a:ext cx="320040" cy="0"/>
          </a:xfrm>
          <a:prstGeom prst="line">
            <a:avLst/>
          </a:prstGeom>
          <a:ln w="25400">
            <a:solidFill>
              <a:srgbClr val="DA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98280" y="1234440"/>
            <a:ext cx="1783080" cy="86868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208007" y="1426464"/>
            <a:ext cx="457200" cy="457200"/>
          </a:xfrm>
          <a:prstGeom prst="ellipse">
            <a:avLst/>
          </a:prstGeom>
          <a:solidFill>
            <a:srgbClr val="1E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08007" y="1517904"/>
            <a:ext cx="457200" cy="146304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648" y="1408176"/>
            <a:ext cx="1033271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1E3040"/>
                </a:solidFill>
                <a:latin typeface="Arial"/>
              </a:defRPr>
            </a:pPr>
            <a:r>
              <a:t>Цифровая</a:t>
            </a:r>
            <a:br/>
            <a:r>
              <a:t>копия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0832" y="5321808"/>
            <a:ext cx="274320" cy="274320"/>
          </a:xfrm>
          <a:prstGeom prst="rect">
            <a:avLst/>
          </a:prstGeom>
          <a:solidFill>
            <a:srgbClr val="1F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806440" y="2286000"/>
            <a:ext cx="4389120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800" b="1">
                <a:solidFill>
                  <a:srgbClr val="1E3040"/>
                </a:solidFill>
                <a:latin typeface="Arial"/>
              </a:defRPr>
            </a:pPr>
            <a:r>
              <a:t>Пакет шаблонов для пилота</a:t>
            </a:r>
          </a:p>
        </p:txBody>
      </p:sp>
      <p:sp>
        <p:nvSpPr>
          <p:cNvPr id="40" name="Oval 39"/>
          <p:cNvSpPr/>
          <p:nvPr/>
        </p:nvSpPr>
        <p:spPr>
          <a:xfrm>
            <a:off x="5897880" y="2852927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17336" y="2788920"/>
            <a:ext cx="4809744" cy="40233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«Северная столица, 1913» — дореволюционная открытка.</a:t>
            </a:r>
          </a:p>
        </p:txBody>
      </p:sp>
      <p:sp>
        <p:nvSpPr>
          <p:cNvPr id="42" name="Oval 41"/>
          <p:cNvSpPr/>
          <p:nvPr/>
        </p:nvSpPr>
        <p:spPr>
          <a:xfrm>
            <a:off x="5897880" y="3255263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17336" y="3191256"/>
            <a:ext cx="4809744" cy="40233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«Ленинградская хроника» — старая газета.</a:t>
            </a:r>
          </a:p>
        </p:txBody>
      </p:sp>
      <p:sp>
        <p:nvSpPr>
          <p:cNvPr id="44" name="Oval 43"/>
          <p:cNvSpPr/>
          <p:nvPr/>
        </p:nvSpPr>
        <p:spPr>
          <a:xfrm>
            <a:off x="5897880" y="3657599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17336" y="3593591"/>
            <a:ext cx="4809744" cy="40233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«Петербургский вестник» — газетный макет.</a:t>
            </a:r>
          </a:p>
        </p:txBody>
      </p:sp>
      <p:sp>
        <p:nvSpPr>
          <p:cNvPr id="46" name="Oval 45"/>
          <p:cNvSpPr/>
          <p:nvPr/>
        </p:nvSpPr>
        <p:spPr>
          <a:xfrm>
            <a:off x="5897880" y="4059936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17336" y="3995928"/>
            <a:ext cx="4809744" cy="40233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«Музейная карточка» — премиальный аккуратный формат.</a:t>
            </a:r>
          </a:p>
        </p:txBody>
      </p:sp>
      <p:sp>
        <p:nvSpPr>
          <p:cNvPr id="48" name="Oval 47"/>
          <p:cNvSpPr/>
          <p:nvPr/>
        </p:nvSpPr>
        <p:spPr>
          <a:xfrm>
            <a:off x="5897880" y="4462272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17336" y="4398264"/>
            <a:ext cx="4809744" cy="40233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0">
                <a:solidFill>
                  <a:srgbClr val="1F1F23"/>
                </a:solidFill>
                <a:latin typeface="Arial"/>
              </a:defRPr>
            </a:pPr>
            <a:r>
              <a:t>«Белые ночи» — сезонный шаблон.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97880" y="5303520"/>
            <a:ext cx="4846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897880" y="5303520"/>
            <a:ext cx="73152" cy="658368"/>
          </a:xfrm>
          <a:prstGeom prst="rect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99048" y="5468112"/>
            <a:ext cx="449884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50" b="1">
                <a:solidFill>
                  <a:srgbClr val="1E3040"/>
                </a:solidFill>
                <a:latin typeface="Arial"/>
              </a:defRPr>
            </a:pPr>
            <a:r>
              <a:t>Операционный стандарт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9048" y="5824728"/>
            <a:ext cx="4498848" cy="256032"/>
          </a:xfrm>
          <a:prstGeom prst="rect">
            <a:avLst/>
          </a:prstGeom>
          <a:noFill/>
        </p:spPr>
        <p:txBody>
          <a:bodyPr wrap="square" lIns="0" tIns="0" rIns="0" anchor="t">
            <a:noAutofit/>
          </a:bodyPr>
          <a:lstStyle/>
          <a:p>
            <a:r>
              <a:rPr sz="850">
                <a:solidFill>
                  <a:srgbClr val="1A1A1C"/>
                </a:solidFill>
              </a:rPr>
              <a:t>Печать до 2–3 минут; 3–5 шаблонов; QR-метка для учета переходов.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Главная ценность: физический сувенир с персональной фотографией, а не одноразовый цифровой фильтр.</a:t>
            </a:r>
          </a:p>
        </p:txBody>
      </p:sp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D9886020-AA0A-8E2A-5B1B-415254CDB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442330"/>
            <a:ext cx="4389120" cy="36832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СЦЕНАРИИ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Юнит-экономика одной точки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09</a:t>
            </a:r>
          </a:p>
        </p:txBody>
      </p:sp>
      <p:pic>
        <p:nvPicPr>
          <p:cNvPr id="7" name="Picture 6" descr="unit_eco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0429"/>
            <a:ext cx="6903720" cy="37628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34440"/>
            <a:ext cx="3566160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800" b="1">
                <a:solidFill>
                  <a:srgbClr val="1E3040"/>
                </a:solidFill>
                <a:latin typeface="Arial"/>
              </a:defRPr>
            </a:pPr>
            <a:r>
              <a:t>Базовый сценарий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783080"/>
            <a:ext cx="164592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82127" y="1892807"/>
            <a:ext cx="1426464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2100" b="1">
                <a:solidFill>
                  <a:srgbClr val="23A6A6"/>
                </a:solidFill>
                <a:latin typeface="Arial"/>
              </a:defRPr>
            </a:pPr>
            <a:r>
              <a:t>590 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2127" y="2313432"/>
            <a:ext cx="1426464" cy="29260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869" b="0">
                <a:solidFill>
                  <a:srgbClr val="586069"/>
                </a:solidFill>
                <a:latin typeface="Arial"/>
              </a:defRPr>
            </a:pPr>
            <a:r>
              <a:t>цена отпечатка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1783080"/>
            <a:ext cx="164592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56648" y="1892807"/>
            <a:ext cx="1426464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2100" b="1">
                <a:solidFill>
                  <a:srgbClr val="F3B33D"/>
                </a:solidFill>
                <a:latin typeface="Arial"/>
              </a:defRPr>
            </a:pPr>
            <a:r>
              <a:t>45 / день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6648" y="2313432"/>
            <a:ext cx="1426464" cy="29260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869" b="0">
                <a:solidFill>
                  <a:srgbClr val="586069"/>
                </a:solidFill>
                <a:latin typeface="Arial"/>
              </a:defRPr>
            </a:pPr>
            <a:r>
              <a:t>продажи в базе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926080"/>
            <a:ext cx="164592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2127" y="3035808"/>
            <a:ext cx="1426464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2100" b="1">
                <a:solidFill>
                  <a:srgbClr val="6F2DBD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456432"/>
            <a:ext cx="1426464" cy="29260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869" b="0">
                <a:solidFill>
                  <a:srgbClr val="586069"/>
                </a:solidFill>
                <a:latin typeface="Arial"/>
              </a:defRPr>
            </a:pPr>
            <a:r>
              <a:t>рекламных партнеров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2926080"/>
            <a:ext cx="164592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56648" y="3035808"/>
            <a:ext cx="1426464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2100" b="1">
                <a:solidFill>
                  <a:srgbClr val="1E3040"/>
                </a:solidFill>
                <a:latin typeface="Arial"/>
              </a:defRPr>
            </a:pPr>
            <a:r>
              <a:t>308 тыс. 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3456432"/>
            <a:ext cx="1426464" cy="29260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869" b="0">
                <a:solidFill>
                  <a:srgbClr val="586069"/>
                </a:solidFill>
                <a:latin typeface="Arial"/>
              </a:defRPr>
            </a:pPr>
            <a:r>
              <a:t>прибыль до налога / мес.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315968"/>
            <a:ext cx="3611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0" y="4315968"/>
            <a:ext cx="73152" cy="868680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73568" y="4480559"/>
            <a:ext cx="32644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200" b="1">
                <a:solidFill>
                  <a:srgbClr val="1E3040"/>
                </a:solidFill>
                <a:latin typeface="Arial"/>
              </a:defRPr>
            </a:pPr>
            <a:r>
              <a:t>Интерпретация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4800599"/>
            <a:ext cx="3264408" cy="347472"/>
          </a:xfrm>
          <a:prstGeom prst="rect">
            <a:avLst/>
          </a:prstGeom>
          <a:noFill/>
        </p:spPr>
        <p:txBody>
          <a:bodyPr wrap="square" lIns="0" tIns="0" rIns="0" anchor="t">
            <a:noAutofit/>
          </a:bodyPr>
          <a:lstStyle/>
          <a:p>
            <a:r>
              <a:rPr sz="1050" dirty="0" err="1">
                <a:solidFill>
                  <a:srgbClr val="1A1A1C"/>
                </a:solidFill>
              </a:rPr>
              <a:t>Базовый</a:t>
            </a:r>
            <a:r>
              <a:rPr sz="1050" dirty="0">
                <a:solidFill>
                  <a:srgbClr val="1A1A1C"/>
                </a:solidFill>
              </a:rPr>
              <a:t> </a:t>
            </a:r>
            <a:r>
              <a:rPr sz="1050" dirty="0" err="1">
                <a:solidFill>
                  <a:srgbClr val="1A1A1C"/>
                </a:solidFill>
              </a:rPr>
              <a:t>сценарий</a:t>
            </a:r>
            <a:r>
              <a:rPr sz="1050" dirty="0">
                <a:solidFill>
                  <a:srgbClr val="1A1A1C"/>
                </a:solidFill>
              </a:rPr>
              <a:t> </a:t>
            </a:r>
            <a:r>
              <a:rPr sz="1050" dirty="0" err="1">
                <a:solidFill>
                  <a:srgbClr val="1A1A1C"/>
                </a:solidFill>
              </a:rPr>
              <a:t>рабочий</a:t>
            </a:r>
            <a:r>
              <a:rPr sz="1050" dirty="0">
                <a:solidFill>
                  <a:srgbClr val="1A1A1C"/>
                </a:solidFill>
              </a:rPr>
              <a:t> </a:t>
            </a:r>
            <a:r>
              <a:rPr sz="1050" dirty="0" err="1">
                <a:solidFill>
                  <a:srgbClr val="1A1A1C"/>
                </a:solidFill>
              </a:rPr>
              <a:t>только</a:t>
            </a:r>
            <a:r>
              <a:rPr sz="1050" dirty="0">
                <a:solidFill>
                  <a:srgbClr val="1A1A1C"/>
                </a:solidFill>
              </a:rPr>
              <a:t> </a:t>
            </a:r>
            <a:r>
              <a:rPr sz="1050" dirty="0" err="1">
                <a:solidFill>
                  <a:srgbClr val="1A1A1C"/>
                </a:solidFill>
              </a:rPr>
              <a:t>после</a:t>
            </a:r>
            <a:r>
              <a:rPr sz="1050" dirty="0">
                <a:solidFill>
                  <a:srgbClr val="1A1A1C"/>
                </a:solidFill>
              </a:rPr>
              <a:t> </a:t>
            </a:r>
            <a:r>
              <a:rPr sz="1050" dirty="0" err="1">
                <a:solidFill>
                  <a:srgbClr val="1A1A1C"/>
                </a:solidFill>
              </a:rPr>
              <a:t>проверки</a:t>
            </a:r>
            <a:r>
              <a:rPr sz="1050" dirty="0">
                <a:solidFill>
                  <a:srgbClr val="1A1A1C"/>
                </a:solidFill>
              </a:rPr>
              <a:t> </a:t>
            </a:r>
            <a:r>
              <a:rPr sz="1050" dirty="0" err="1">
                <a:solidFill>
                  <a:srgbClr val="1A1A1C"/>
                </a:solidFill>
              </a:rPr>
              <a:t>спроса</a:t>
            </a:r>
            <a:r>
              <a:rPr sz="1050" dirty="0">
                <a:solidFill>
                  <a:srgbClr val="1A1A1C"/>
                </a:solidFill>
              </a:rPr>
              <a:t> </a:t>
            </a:r>
            <a:r>
              <a:rPr sz="1050" dirty="0" err="1">
                <a:solidFill>
                  <a:srgbClr val="1A1A1C"/>
                </a:solidFill>
              </a:rPr>
              <a:t>на</a:t>
            </a:r>
            <a:r>
              <a:rPr sz="1050" dirty="0">
                <a:solidFill>
                  <a:srgbClr val="1A1A1C"/>
                </a:solidFill>
              </a:rPr>
              <a:t> </a:t>
            </a:r>
            <a:r>
              <a:rPr sz="1050" dirty="0" err="1">
                <a:solidFill>
                  <a:srgbClr val="1A1A1C"/>
                </a:solidFill>
              </a:rPr>
              <a:t>пилоте</a:t>
            </a:r>
            <a:r>
              <a:rPr sz="1050" dirty="0">
                <a:solidFill>
                  <a:srgbClr val="1A1A1C"/>
                </a:solidFill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Финансовые параметры — модельные допущения для пилота; проверяются продажами и QR-конверсией.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ГЛАВНАЯ МЕТРИКА ПИЛОТА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Порог безубыточности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7" name="Picture 6" descr="breakeven_daily_pr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7809"/>
            <a:ext cx="6766560" cy="36881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34440"/>
            <a:ext cx="3474720" cy="32004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800" b="1">
                <a:solidFill>
                  <a:srgbClr val="1E3040"/>
                </a:solidFill>
                <a:latin typeface="Arial"/>
              </a:defRPr>
            </a:pPr>
            <a:r>
              <a:t>Что должно подтвердиться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1801368"/>
            <a:ext cx="118872" cy="118872"/>
          </a:xfrm>
          <a:prstGeom prst="ellipse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37576" y="1737360"/>
            <a:ext cx="3438144" cy="384048"/>
          </a:xfrm>
          <a:prstGeom prst="rect">
            <a:avLst/>
          </a:prstGeom>
          <a:noFill/>
        </p:spPr>
        <p:txBody>
          <a:bodyPr wrap="square" lIns="0" tIns="0" rIns="0" anchor="t">
            <a:noAutofit/>
          </a:bodyPr>
          <a:lstStyle/>
          <a:p>
            <a:r>
              <a:rPr sz="1400">
                <a:solidFill>
                  <a:srgbClr val="1A1A1C"/>
                </a:solidFill>
              </a:rPr>
              <a:t>База: около 23 отпечатков в день.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361438"/>
            <a:ext cx="118872" cy="118872"/>
          </a:xfrm>
          <a:prstGeom prst="ellipse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37576" y="2297430"/>
            <a:ext cx="3438144" cy="384048"/>
          </a:xfrm>
          <a:prstGeom prst="rect">
            <a:avLst/>
          </a:prstGeom>
          <a:noFill/>
        </p:spPr>
        <p:txBody>
          <a:bodyPr wrap="square" lIns="0" tIns="0" rIns="0" anchor="t">
            <a:noAutofit/>
          </a:bodyPr>
          <a:lstStyle/>
          <a:p>
            <a:r>
              <a:rPr sz="1400">
                <a:solidFill>
                  <a:srgbClr val="1A1A1C"/>
                </a:solidFill>
              </a:rPr>
              <a:t>Консервативно: запас почти нулевой.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2921508"/>
            <a:ext cx="118872" cy="118872"/>
          </a:xfrm>
          <a:prstGeom prst="ellipse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37576" y="2857500"/>
            <a:ext cx="3438144" cy="384048"/>
          </a:xfrm>
          <a:prstGeom prst="rect">
            <a:avLst/>
          </a:prstGeom>
          <a:noFill/>
        </p:spPr>
        <p:txBody>
          <a:bodyPr wrap="square" lIns="0" tIns="0" rIns="0" anchor="t">
            <a:noAutofit/>
          </a:bodyPr>
          <a:lstStyle/>
          <a:p>
            <a:r>
              <a:rPr sz="1400">
                <a:solidFill>
                  <a:srgbClr val="1A1A1C"/>
                </a:solidFill>
              </a:rPr>
              <a:t>Реклама помогает только при регулярной оплате.</a:t>
            </a:r>
          </a:p>
        </p:txBody>
      </p:sp>
      <p:sp>
        <p:nvSpPr>
          <p:cNvPr id="15" name="Oval 14"/>
          <p:cNvSpPr/>
          <p:nvPr/>
        </p:nvSpPr>
        <p:spPr>
          <a:xfrm>
            <a:off x="7818120" y="3481577"/>
            <a:ext cx="118872" cy="118872"/>
          </a:xfrm>
          <a:prstGeom prst="ellipse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37576" y="3417570"/>
            <a:ext cx="3438144" cy="384048"/>
          </a:xfrm>
          <a:prstGeom prst="rect">
            <a:avLst/>
          </a:prstGeom>
          <a:noFill/>
        </p:spPr>
        <p:txBody>
          <a:bodyPr wrap="square" lIns="0" tIns="0" rIns="0" anchor="t">
            <a:noAutofit/>
          </a:bodyPr>
          <a:lstStyle/>
          <a:p>
            <a:r>
              <a:rPr sz="1400">
                <a:solidFill>
                  <a:srgbClr val="1A1A1C"/>
                </a:solidFill>
              </a:rPr>
              <a:t>Считать QR-переходы и купоны.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4617720"/>
            <a:ext cx="3611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0" y="4617720"/>
            <a:ext cx="73152" cy="749808"/>
          </a:xfrm>
          <a:prstGeom prst="rect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73568" y="4782312"/>
            <a:ext cx="32644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200" b="1">
                <a:solidFill>
                  <a:srgbClr val="1E3040"/>
                </a:solidFill>
                <a:latin typeface="Arial"/>
              </a:defRPr>
            </a:pPr>
            <a:r>
              <a:t>KPI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5184648"/>
            <a:ext cx="3264408" cy="256032"/>
          </a:xfrm>
          <a:prstGeom prst="rect">
            <a:avLst/>
          </a:prstGeom>
          <a:noFill/>
        </p:spPr>
        <p:txBody>
          <a:bodyPr wrap="square" lIns="0" tIns="0" rIns="0" anchor="t">
            <a:noAutofit/>
          </a:bodyPr>
          <a:lstStyle/>
          <a:p>
            <a:r>
              <a:rPr sz="1050">
                <a:solidFill>
                  <a:srgbClr val="1A1A1C"/>
                </a:solidFill>
              </a:rPr>
              <a:t>1200+ отп./мес.; 5 партнеров; QR 8–12%; рейтинг 4,7+.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Расчет: (фиксированные расходы − рекламная выручка) / маржа печати.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ПИЛОТ НА 6 НЕДЕЛЬ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Маркетинговая кампания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0515600" cy="38404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r>
              <a:t>На пилоте маркетинг нужен для проверки: видят ли туристы точку, покупают ли фото и используют ли купон партнера.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2011680" cy="20116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23A6A6"/>
                </a:solidFill>
                <a:latin typeface="Arial"/>
              </a:defRPr>
            </a:pPr>
            <a:r>
              <a:t>Канал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2926080" cy="20116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1">
                <a:solidFill>
                  <a:srgbClr val="23A6A6"/>
                </a:solidFill>
                <a:latin typeface="Arial"/>
              </a:defRPr>
            </a:pPr>
            <a: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874519"/>
            <a:ext cx="1097280" cy="201168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r">
              <a:defRPr sz="950" b="1">
                <a:solidFill>
                  <a:srgbClr val="23A6A6"/>
                </a:solidFill>
                <a:latin typeface="Arial"/>
              </a:defRPr>
            </a:pPr>
            <a:r>
              <a:t>Бюджет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12848"/>
            <a:ext cx="9098280" cy="50292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2212848"/>
            <a:ext cx="73152" cy="502920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2359152"/>
            <a:ext cx="21488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1">
                <a:solidFill>
                  <a:srgbClr val="1E3040"/>
                </a:solidFill>
                <a:latin typeface="Arial"/>
              </a:defRPr>
            </a:pPr>
            <a:r>
              <a:t>QR-купон на открытке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359152"/>
            <a:ext cx="42062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0">
                <a:solidFill>
                  <a:srgbClr val="1F1F23"/>
                </a:solidFill>
                <a:latin typeface="Arial"/>
              </a:defRPr>
            </a:pPr>
            <a:r>
              <a:t>измерить переходы и покупки у партнера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50008"/>
            <a:ext cx="118872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r">
              <a:defRPr sz="1130" b="1">
                <a:solidFill>
                  <a:srgbClr val="1E3040"/>
                </a:solidFill>
                <a:latin typeface="Arial"/>
              </a:defRPr>
            </a:pPr>
            <a:r>
              <a:t>45 тыс. 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889504"/>
            <a:ext cx="90982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2889504"/>
            <a:ext cx="73152" cy="502920"/>
          </a:xfrm>
          <a:prstGeom prst="rect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3035808"/>
            <a:ext cx="21488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1">
                <a:solidFill>
                  <a:srgbClr val="1E3040"/>
                </a:solidFill>
                <a:latin typeface="Arial"/>
              </a:defRPr>
            </a:pPr>
            <a:r>
              <a:t>Карточка в 2GIS / Яндекс Картах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035808"/>
            <a:ext cx="42062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0">
                <a:solidFill>
                  <a:srgbClr val="1F1F23"/>
                </a:solidFill>
                <a:latin typeface="Arial"/>
              </a:defRPr>
            </a:pPr>
            <a:r>
              <a:t>отзывы, поисковый спрос, доверие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026664"/>
            <a:ext cx="118872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r">
              <a:defRPr sz="1130" b="1">
                <a:solidFill>
                  <a:srgbClr val="1E3040"/>
                </a:solidFill>
                <a:latin typeface="Arial"/>
              </a:defRPr>
            </a:pPr>
            <a:r>
              <a:t>30 тыс. 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566160"/>
            <a:ext cx="9098280" cy="50292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566160"/>
            <a:ext cx="73152" cy="502920"/>
          </a:xfrm>
          <a:prstGeom prst="rect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3712463"/>
            <a:ext cx="21488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1">
                <a:solidFill>
                  <a:srgbClr val="1E3040"/>
                </a:solidFill>
                <a:latin typeface="Arial"/>
              </a:defRPr>
            </a:pPr>
            <a:r>
              <a:t>Отели и туристские инфоцентры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3712463"/>
            <a:ext cx="42062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0">
                <a:solidFill>
                  <a:srgbClr val="1F1F23"/>
                </a:solidFill>
                <a:latin typeface="Arial"/>
              </a:defRPr>
            </a:pPr>
            <a:r>
              <a:t>семейные туристы и гости из регионов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703320"/>
            <a:ext cx="118872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r">
              <a:defRPr sz="1130" b="1">
                <a:solidFill>
                  <a:srgbClr val="1E3040"/>
                </a:solidFill>
                <a:latin typeface="Arial"/>
              </a:defRPr>
            </a:pPr>
            <a:r>
              <a:t>25 тыс. 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242816"/>
            <a:ext cx="90982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4242816"/>
            <a:ext cx="73152" cy="502920"/>
          </a:xfrm>
          <a:prstGeom prst="rect">
            <a:avLst/>
          </a:prstGeom>
          <a:solidFill>
            <a:srgbClr val="1E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" y="4389120"/>
            <a:ext cx="21488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1">
                <a:solidFill>
                  <a:srgbClr val="1E3040"/>
                </a:solidFill>
                <a:latin typeface="Arial"/>
              </a:defRPr>
            </a:pPr>
            <a:r>
              <a:t>VK / Telegram UGC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4389120"/>
            <a:ext cx="42062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0">
                <a:solidFill>
                  <a:srgbClr val="1F1F23"/>
                </a:solidFill>
                <a:latin typeface="Arial"/>
              </a:defRPr>
            </a:pPr>
            <a:r>
              <a:t>посты с геометками и фото результата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379976"/>
            <a:ext cx="118872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r">
              <a:defRPr sz="1130" b="1">
                <a:solidFill>
                  <a:srgbClr val="1E3040"/>
                </a:solidFill>
                <a:latin typeface="Arial"/>
              </a:defRPr>
            </a:pPr>
            <a:r>
              <a:t>90 тыс. 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19472"/>
            <a:ext cx="9098280" cy="502920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4919472"/>
            <a:ext cx="73152" cy="502920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" y="5065776"/>
            <a:ext cx="21488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1">
                <a:solidFill>
                  <a:srgbClr val="1E3040"/>
                </a:solidFill>
                <a:latin typeface="Arial"/>
              </a:defRPr>
            </a:pPr>
            <a:r>
              <a:t>B2B-пакет для HoReCa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5065776"/>
            <a:ext cx="42062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50" b="0">
                <a:solidFill>
                  <a:srgbClr val="1F1F23"/>
                </a:solidFill>
                <a:latin typeface="Arial"/>
              </a:defRPr>
            </a:pPr>
            <a:r>
              <a:t>5–8 платящих партнеров на точку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5056632"/>
            <a:ext cx="118872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r">
              <a:defRPr sz="1130" b="1">
                <a:solidFill>
                  <a:srgbClr val="1E3040"/>
                </a:solidFill>
                <a:latin typeface="Arial"/>
              </a:defRPr>
            </a:pPr>
            <a:r>
              <a:t>20 тыс. 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2057400"/>
            <a:ext cx="17830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259568" y="2267712"/>
            <a:ext cx="1463040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ctr">
              <a:defRPr sz="1350" b="1">
                <a:solidFill>
                  <a:srgbClr val="1E3040"/>
                </a:solidFill>
                <a:latin typeface="Arial"/>
              </a:defRPr>
            </a:pPr>
            <a:r>
              <a:t>Ключевые KPI</a:t>
            </a:r>
          </a:p>
        </p:txBody>
      </p:sp>
      <p:sp>
        <p:nvSpPr>
          <p:cNvPr id="38" name="Oval 37"/>
          <p:cNvSpPr/>
          <p:nvPr/>
        </p:nvSpPr>
        <p:spPr>
          <a:xfrm>
            <a:off x="10287000" y="280720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506456" y="2743200"/>
            <a:ext cx="1197864" cy="40005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19" b="0">
                <a:solidFill>
                  <a:srgbClr val="1F1F23"/>
                </a:solidFill>
                <a:latin typeface="Arial"/>
              </a:defRPr>
            </a:pPr>
            <a:r>
              <a:t>1200+</a:t>
            </a:r>
            <a:br/>
            <a:r>
              <a:t>отпечатков/мес.</a:t>
            </a:r>
          </a:p>
        </p:txBody>
      </p:sp>
      <p:sp>
        <p:nvSpPr>
          <p:cNvPr id="40" name="Oval 39"/>
          <p:cNvSpPr/>
          <p:nvPr/>
        </p:nvSpPr>
        <p:spPr>
          <a:xfrm>
            <a:off x="10287000" y="320725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506456" y="3143250"/>
            <a:ext cx="1197864" cy="40005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19" b="0">
                <a:solidFill>
                  <a:srgbClr val="1F1F23"/>
                </a:solidFill>
                <a:latin typeface="Arial"/>
              </a:defRPr>
            </a:pPr>
            <a:r>
              <a:t>5</a:t>
            </a:r>
            <a:br/>
            <a:r>
              <a:t>партнеров</a:t>
            </a:r>
          </a:p>
        </p:txBody>
      </p:sp>
      <p:sp>
        <p:nvSpPr>
          <p:cNvPr id="42" name="Oval 41"/>
          <p:cNvSpPr/>
          <p:nvPr/>
        </p:nvSpPr>
        <p:spPr>
          <a:xfrm>
            <a:off x="10287000" y="360730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506456" y="3543300"/>
            <a:ext cx="1197864" cy="40005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19" b="0">
                <a:solidFill>
                  <a:srgbClr val="1F1F23"/>
                </a:solidFill>
                <a:latin typeface="Arial"/>
              </a:defRPr>
            </a:pPr>
            <a:r>
              <a:t>QR</a:t>
            </a:r>
            <a:br/>
            <a:r>
              <a:t>8–12%</a:t>
            </a:r>
          </a:p>
        </p:txBody>
      </p:sp>
      <p:sp>
        <p:nvSpPr>
          <p:cNvPr id="44" name="Oval 43"/>
          <p:cNvSpPr/>
          <p:nvPr/>
        </p:nvSpPr>
        <p:spPr>
          <a:xfrm>
            <a:off x="10287000" y="400735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506456" y="3943350"/>
            <a:ext cx="1197864" cy="40005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19" b="0">
                <a:solidFill>
                  <a:srgbClr val="1F1F23"/>
                </a:solidFill>
                <a:latin typeface="Arial"/>
              </a:defRPr>
            </a:pPr>
            <a:r>
              <a:t>4,7+</a:t>
            </a:r>
            <a:br/>
            <a:r>
              <a:t>рейтинг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513832"/>
            <a:ext cx="90982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58368" y="5513832"/>
            <a:ext cx="73152" cy="502920"/>
          </a:xfrm>
          <a:prstGeom prst="rect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1248" y="5660136"/>
            <a:ext cx="19202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1">
                <a:solidFill>
                  <a:srgbClr val="1E3040"/>
                </a:solidFill>
                <a:latin typeface="Arial"/>
              </a:defRPr>
            </a:pPr>
            <a:r>
              <a:t>Логика пилота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4680" y="5660136"/>
            <a:ext cx="5577840" cy="16459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919" b="0">
                <a:solidFill>
                  <a:srgbClr val="1F1F23"/>
                </a:solidFill>
                <a:latin typeface="Arial"/>
              </a:defRPr>
            </a:pPr>
            <a:r>
              <a:t>Сначала доказываем спрос и купонную конверсию, затем переводим партнеров на фиксированный месячный пакет.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Бюджеты — план пилота; фактические расходы уточняются после выбора площадки и подрядчиков.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t>ЧТО МОЖЕТ СОРВАТЬ ПИЛОТ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7442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2400" b="1">
                <a:solidFill>
                  <a:srgbClr val="1E3040"/>
                </a:solidFill>
                <a:latin typeface="Arial"/>
              </a:defRPr>
            </a:pPr>
            <a:r>
              <a:t>Риски и меры снижения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828800" cy="22860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1">
                <a:solidFill>
                  <a:srgbClr val="23A6A6"/>
                </a:solidFill>
                <a:latin typeface="Arial"/>
              </a:defRPr>
            </a:pPr>
            <a:r>
              <a:t>Риск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25880"/>
            <a:ext cx="2926080" cy="22860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1">
                <a:solidFill>
                  <a:srgbClr val="23A6A6"/>
                </a:solidFill>
                <a:latin typeface="Arial"/>
              </a:defRPr>
            </a:pPr>
            <a:r>
              <a:t>Проблема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325880"/>
            <a:ext cx="4023360" cy="22860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50" b="1">
                <a:solidFill>
                  <a:srgbClr val="23A6A6"/>
                </a:solidFill>
                <a:latin typeface="Arial"/>
              </a:defRPr>
            </a:pPr>
            <a:r>
              <a:t>Решение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10789920" cy="585216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847088"/>
            <a:ext cx="2011680" cy="18288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80" b="1">
                <a:solidFill>
                  <a:srgbClr val="1E3040"/>
                </a:solidFill>
                <a:latin typeface="Arial"/>
              </a:defRPr>
            </a:pPr>
            <a:r>
              <a:t>Согласования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828800"/>
            <a:ext cx="2971800" cy="21945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19" b="0">
                <a:solidFill>
                  <a:srgbClr val="1F1F23"/>
                </a:solidFill>
                <a:latin typeface="Arial"/>
              </a:defRPr>
            </a:pPr>
            <a:r>
              <a:t>Нельзя поставить стационарную точку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3931920" cy="21945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19" b="0">
                <a:solidFill>
                  <a:srgbClr val="1F1F23"/>
                </a:solidFill>
                <a:latin typeface="Arial"/>
              </a:defRPr>
            </a:pPr>
            <a:r>
              <a:t>партнерская площадка, отель, мобильная стойка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496312"/>
            <a:ext cx="1078992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651760"/>
            <a:ext cx="2011680" cy="18288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80" b="1">
                <a:solidFill>
                  <a:srgbClr val="1E3040"/>
                </a:solidFill>
                <a:latin typeface="Arial"/>
              </a:defRPr>
            </a:pPr>
            <a:r>
              <a:t>Погода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633472"/>
            <a:ext cx="2971800" cy="21945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19" b="0">
                <a:solidFill>
                  <a:srgbClr val="1F1F23"/>
                </a:solidFill>
                <a:latin typeface="Arial"/>
              </a:defRPr>
            </a:pPr>
            <a:r>
              <a:t>Падает уличный поток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633472"/>
            <a:ext cx="3931920" cy="21945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19" b="0">
                <a:solidFill>
                  <a:srgbClr val="1F1F23"/>
                </a:solidFill>
                <a:latin typeface="Arial"/>
              </a:defRPr>
            </a:pPr>
            <a:r>
              <a:t>точки рядом с кафе, переходами, крытыми зонами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300984"/>
            <a:ext cx="10789920" cy="585216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456432"/>
            <a:ext cx="2011680" cy="18288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80" b="1">
                <a:solidFill>
                  <a:srgbClr val="1E3040"/>
                </a:solidFill>
                <a:latin typeface="Arial"/>
              </a:defRPr>
            </a:pPr>
            <a:r>
              <a:t>Медленная печать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438144"/>
            <a:ext cx="2971800" cy="21945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19" b="0">
                <a:solidFill>
                  <a:srgbClr val="1F1F23"/>
                </a:solidFill>
                <a:latin typeface="Arial"/>
              </a:defRPr>
            </a:pPr>
            <a:r>
              <a:t>очередь и отказ от покупки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438144"/>
            <a:ext cx="3931920" cy="21945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19" b="0">
                <a:solidFill>
                  <a:srgbClr val="1F1F23"/>
                </a:solidFill>
                <a:latin typeface="Arial"/>
              </a:defRPr>
            </a:pPr>
            <a:r>
              <a:t>ограничить шаблоны, стандарт 2–3 минуты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105656"/>
            <a:ext cx="1078992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261104"/>
            <a:ext cx="2011680" cy="18288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80" b="1">
                <a:solidFill>
                  <a:srgbClr val="1E3040"/>
                </a:solidFill>
                <a:latin typeface="Arial"/>
              </a:defRPr>
            </a:pPr>
            <a:r>
              <a:t>Слабый B2B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242816"/>
            <a:ext cx="2971800" cy="21945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19" b="0">
                <a:solidFill>
                  <a:srgbClr val="1F1F23"/>
                </a:solidFill>
                <a:latin typeface="Arial"/>
              </a:defRPr>
            </a:pPr>
            <a:r>
              <a:t>партнеры не платят до доказанной конверсии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242816"/>
            <a:ext cx="3931920" cy="21945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19" b="0">
                <a:solidFill>
                  <a:srgbClr val="1F1F23"/>
                </a:solidFill>
                <a:latin typeface="Arial"/>
              </a:defRPr>
            </a:pPr>
            <a:r>
              <a:t>первый цикл: CPA/купон, затем фиксированный пакет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910328"/>
            <a:ext cx="10789920" cy="585216"/>
          </a:xfrm>
          <a:prstGeom prst="roundRect">
            <a:avLst/>
          </a:prstGeom>
          <a:solidFill>
            <a:srgbClr val="F6F8FA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065776"/>
            <a:ext cx="2011680" cy="18288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80" b="1">
                <a:solidFill>
                  <a:srgbClr val="1E3040"/>
                </a:solidFill>
                <a:latin typeface="Arial"/>
              </a:defRPr>
            </a:pPr>
            <a:r>
              <a:t>Качество макета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5047488"/>
            <a:ext cx="2971800" cy="21945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19" b="0">
                <a:solidFill>
                  <a:srgbClr val="1F1F23"/>
                </a:solidFill>
                <a:latin typeface="Arial"/>
              </a:defRPr>
            </a:pPr>
            <a:r>
              <a:t>воспринимается как дешевый фильтр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047488"/>
            <a:ext cx="3931920" cy="219456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19" b="0">
                <a:solidFill>
                  <a:srgbClr val="1F1F23"/>
                </a:solidFill>
                <a:latin typeface="Arial"/>
              </a:defRPr>
            </a:pPr>
            <a:r>
              <a:t>сувенирная полиграфия и премиальные шаблоны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9966960" cy="25603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750">
                <a:solidFill>
                  <a:srgbClr val="586069"/>
                </a:solidFill>
                <a:latin typeface="Arial"/>
              </a:defRPr>
            </a:pPr>
            <a:r>
              <a:t>Риск-матрица для пилота; после первой точки обновляется по фактическим операционным данным.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78992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 b="1">
                <a:solidFill>
                  <a:srgbClr val="23A6A6"/>
                </a:solidFill>
                <a:latin typeface="Arial"/>
              </a:defRPr>
            </a:pPr>
            <a:r>
              <a:rPr dirty="0"/>
              <a:t>ЧТО ДЕЛАТЬ ДАЛЬШЕ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378440" cy="5029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900" b="1">
                <a:solidFill>
                  <a:srgbClr val="1E3040"/>
                </a:solidFill>
                <a:latin typeface="Arial"/>
              </a:defRPr>
            </a:pPr>
            <a:r>
              <a:t>Гипотеза подходит для пилота в Санкт-Петербурге. Решение о масштабировании нужно принимать после 6 недель фактических продаж.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73152" cy="1143000"/>
          </a:xfrm>
          <a:prstGeom prst="rect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176272"/>
            <a:ext cx="30358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300" b="1">
                <a:solidFill>
                  <a:srgbClr val="1E3040"/>
                </a:solidFill>
                <a:latin typeface="Arial"/>
              </a:defRPr>
            </a:pPr>
            <a:r>
              <a:t>1. Запуск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578608"/>
            <a:ext cx="3035808" cy="4846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30" b="0">
                <a:solidFill>
                  <a:srgbClr val="1F1F23"/>
                </a:solidFill>
                <a:latin typeface="Arial"/>
              </a:defRPr>
            </a:pPr>
            <a:r>
              <a:t>Одна точка: Невский проспект — Казанский собор — Дом книги.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01168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2011680"/>
            <a:ext cx="73152" cy="1143000"/>
          </a:xfrm>
          <a:prstGeom prst="rect">
            <a:avLst/>
          </a:prstGeom>
          <a:solidFill>
            <a:srgbClr val="F3B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7" y="2176272"/>
            <a:ext cx="30358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300" b="1">
                <a:solidFill>
                  <a:srgbClr val="1E3040"/>
                </a:solidFill>
                <a:latin typeface="Arial"/>
              </a:defRPr>
            </a:pPr>
            <a:r>
              <a:t>2. Проверка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578608"/>
            <a:ext cx="3035808" cy="4846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30" b="0">
                <a:solidFill>
                  <a:srgbClr val="1F1F23"/>
                </a:solidFill>
                <a:latin typeface="Arial"/>
              </a:defRPr>
            </a:pPr>
            <a:r>
              <a:t>Продажи в день, QR-конверсия, рейтинг, скорость печати, продления B2B.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01168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2011680"/>
            <a:ext cx="73152" cy="1143000"/>
          </a:xfrm>
          <a:prstGeom prst="rect">
            <a:avLst/>
          </a:prstGeom>
          <a:solidFill>
            <a:srgbClr val="6F2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176272"/>
            <a:ext cx="3035808" cy="2560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300" b="1">
                <a:solidFill>
                  <a:srgbClr val="1E3040"/>
                </a:solidFill>
                <a:latin typeface="Arial"/>
              </a:defRPr>
            </a:pPr>
            <a:r>
              <a:t>3. Масштабирование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578608"/>
            <a:ext cx="3035808" cy="484632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030" b="0">
                <a:solidFill>
                  <a:srgbClr val="1F1F23"/>
                </a:solidFill>
                <a:latin typeface="Arial"/>
              </a:defRPr>
            </a:pPr>
            <a:r>
              <a:t>При выполнении KPI — 3 точки в Петербурге и франшизный пакет.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77639"/>
            <a:ext cx="3291840" cy="27432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600" b="1">
                <a:solidFill>
                  <a:srgbClr val="1E3040"/>
                </a:solidFill>
                <a:latin typeface="Arial"/>
              </a:defRPr>
            </a:pPr>
            <a:r>
              <a:t>Порог решения после пилота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49884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8136" y="4434840"/>
            <a:ext cx="3712463" cy="36576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40" b="0">
                <a:solidFill>
                  <a:srgbClr val="1F1F23"/>
                </a:solidFill>
                <a:latin typeface="Arial"/>
              </a:defRPr>
            </a:pPr>
            <a:r>
              <a:t>не ниже 25–30 отпечатков в день;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486460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8136" y="4800600"/>
            <a:ext cx="3712463" cy="36576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40" b="0">
                <a:solidFill>
                  <a:srgbClr val="1F1F23"/>
                </a:solidFill>
                <a:latin typeface="Arial"/>
              </a:defRPr>
            </a:pPr>
            <a:r>
              <a:t>5+ платящих партнеров на точку;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523036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8136" y="5166359"/>
            <a:ext cx="3712463" cy="36576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40" b="0">
                <a:solidFill>
                  <a:srgbClr val="1F1F23"/>
                </a:solidFill>
                <a:latin typeface="Arial"/>
              </a:defRPr>
            </a:pPr>
            <a:r>
              <a:t>QR-конверсия минимум 8%;</a:t>
            </a:r>
          </a:p>
        </p:txBody>
      </p:sp>
      <p:sp>
        <p:nvSpPr>
          <p:cNvPr id="27" name="Oval 26"/>
          <p:cNvSpPr/>
          <p:nvPr/>
        </p:nvSpPr>
        <p:spPr>
          <a:xfrm>
            <a:off x="868680" y="559612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88136" y="5532120"/>
            <a:ext cx="3712463" cy="36576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40" b="0">
                <a:solidFill>
                  <a:srgbClr val="1F1F23"/>
                </a:solidFill>
                <a:latin typeface="Arial"/>
              </a:defRPr>
            </a:pPr>
            <a:r>
              <a:t>30+ отзывов и рейтинг 4,7+;</a:t>
            </a:r>
          </a:p>
        </p:txBody>
      </p:sp>
      <p:sp>
        <p:nvSpPr>
          <p:cNvPr id="29" name="Oval 28"/>
          <p:cNvSpPr/>
          <p:nvPr/>
        </p:nvSpPr>
        <p:spPr>
          <a:xfrm>
            <a:off x="868680" y="5961888"/>
            <a:ext cx="118872" cy="118872"/>
          </a:xfrm>
          <a:prstGeom prst="ellipse">
            <a:avLst/>
          </a:prstGeom>
          <a:solidFill>
            <a:srgbClr val="23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88136" y="5897879"/>
            <a:ext cx="3712463" cy="365760"/>
          </a:xfrm>
          <a:prstGeom prst="rect">
            <a:avLst/>
          </a:prstGeom>
          <a:noFill/>
        </p:spPr>
        <p:txBody>
          <a:bodyPr wrap="square" lIns="0" tIns="0" rIns="0" anchor="t">
            <a:spAutoFit/>
          </a:bodyPr>
          <a:lstStyle/>
          <a:p>
            <a:pPr algn="l">
              <a:defRPr sz="1140" b="0">
                <a:solidFill>
                  <a:srgbClr val="1F1F23"/>
                </a:solidFill>
                <a:latin typeface="Arial"/>
              </a:defRPr>
            </a:pPr>
            <a:r>
              <a:t>обслуживание одного клиента до 2–3 минут.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4069080"/>
            <a:ext cx="4114800" cy="1691640"/>
          </a:xfrm>
          <a:prstGeom prst="roundRect">
            <a:avLst/>
          </a:prstGeom>
          <a:solidFill>
            <a:srgbClr val="1E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03720" y="4370832"/>
            <a:ext cx="4114800" cy="320040"/>
          </a:xfrm>
          <a:prstGeom prst="rect">
            <a:avLst/>
          </a:prstGeom>
          <a:noFill/>
        </p:spPr>
        <p:txBody>
          <a:bodyPr wrap="square" lIns="0" tIns="0" rIns="0" anchor="t">
            <a:noAutofit/>
          </a:bodyPr>
          <a:lstStyle/>
          <a:p>
            <a:r>
              <a:rPr sz="1600" b="1">
                <a:solidFill>
                  <a:srgbClr val="FFFFFF"/>
                </a:solidFill>
              </a:rPr>
              <a:t>МАСШТАБИРОВАТЬ / ДОРАБОТАТЬ / СТОП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983480"/>
            <a:ext cx="3383280" cy="365760"/>
          </a:xfrm>
          <a:prstGeom prst="rect">
            <a:avLst/>
          </a:prstGeom>
          <a:noFill/>
        </p:spPr>
        <p:txBody>
          <a:bodyPr wrap="square" lIns="0" tIns="0" rIns="0" anchor="t">
            <a:noAutofit/>
          </a:bodyPr>
          <a:lstStyle/>
          <a:p>
            <a:r>
              <a:rPr sz="1100">
                <a:solidFill>
                  <a:srgbClr val="E0E8EE"/>
                </a:solidFill>
              </a:rPr>
              <a:t>решение принимается только по фактическим метрикам пилота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1162</Words>
  <Application>Microsoft Macintosh PowerPoint</Application>
  <PresentationFormat>Широкоэкранный</PresentationFormat>
  <Paragraphs>210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3</cp:revision>
  <dcterms:created xsi:type="dcterms:W3CDTF">2013-01-27T09:14:16Z</dcterms:created>
  <dcterms:modified xsi:type="dcterms:W3CDTF">2026-05-17T20:11:23Z</dcterms:modified>
  <cp:category/>
</cp:coreProperties>
</file>